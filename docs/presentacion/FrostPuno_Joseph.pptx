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320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07647" y="0"/>
            <a:ext cx="384048" cy="6858000"/>
          </a:xfrm>
          <a:prstGeom prst="rect">
            <a:avLst/>
          </a:prstGeom>
          <a:solidFill>
            <a:srgbClr val="EE6C4D"/>
          </a:solidFill>
          <a:ln/>
        </p:spPr>
      </p:sp>
      <p:pic>
        <p:nvPicPr>
          <p:cNvPr id="3" name="Image 0" descr="D:\Dev\02_UNIVERSIDAD\FrostPuno\.claude\worktrees\flutter-frost-prediction-puno-d1a1d7\docs\presentacion\img\escudo_u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234440"/>
            <a:ext cx="1920240" cy="20756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34290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A9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Nacional</a:t>
            </a:r>
            <a:endParaRPr lang="en-US" sz="12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A9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Altiplano — Puno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520440" y="109728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FrostPuno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3566160" y="2286000"/>
            <a:ext cx="7223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800" dirty="0">
                <a:solidFill>
                  <a:srgbClr val="E0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Prediccion de heladas y apoyo a la produccion de chuño</a:t>
            </a:r>
            <a:endParaRPr lang="en-US" sz="18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800" dirty="0">
                <a:solidFill>
                  <a:srgbClr val="E0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altiplano de Puno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566160" y="3291840"/>
            <a:ext cx="1371600" cy="45720"/>
          </a:xfrm>
          <a:prstGeom prst="rect">
            <a:avLst/>
          </a:prstGeom>
          <a:solidFill>
            <a:srgbClr val="EE6C4D"/>
          </a:solidFill>
          <a:ln/>
        </p:spPr>
      </p:sp>
      <p:sp>
        <p:nvSpPr>
          <p:cNvPr id="8" name="Text 5"/>
          <p:cNvSpPr/>
          <p:nvPr/>
        </p:nvSpPr>
        <p:spPr>
          <a:xfrm>
            <a:off x="3566160" y="3611880"/>
            <a:ext cx="7223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Mamani Mendoza, Joseph Elvis   ·   Lipe Machaca, Juan Artemio</a:t>
            </a:r>
            <a:endParaRPr lang="en-US" sz="15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Ticona Erquinigo, Jhoel Yovani   ·   Tapara Ccahuana, Paul Renmis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566160" y="4709160"/>
            <a:ext cx="6400800" cy="640080"/>
          </a:xfrm>
          <a:prstGeom prst="roundRect">
            <a:avLst>
              <a:gd name="adj" fmla="val 11429"/>
            </a:avLst>
          </a:prstGeom>
          <a:solidFill>
            <a:srgbClr val="16232E"/>
          </a:solidFill>
          <a:ln/>
        </p:spPr>
      </p:sp>
      <p:sp>
        <p:nvSpPr>
          <p:cNvPr id="10" name="Text 7"/>
          <p:cNvSpPr/>
          <p:nvPr/>
        </p:nvSpPr>
        <p:spPr>
          <a:xfrm>
            <a:off x="3840480" y="470916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de Maquina  ·  Segunda Unidad  ·  UNA-Puno  ·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658368" y="31089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E0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helada, dos caras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143000" y="14173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31750">
            <a:solidFill>
              <a:srgbClr val="EE6C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60020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DESTRUYE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20116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500" dirty="0">
                <a:solidFill>
                  <a:srgbClr val="1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Daña los cultivos de la campaña</a:t>
            </a:r>
            <a:endParaRPr lang="en-US" sz="15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500" dirty="0">
                <a:solidFill>
                  <a:srgbClr val="1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crias de alpaca y ovino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0" y="14173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31750">
            <a:solidFill>
              <a:srgbClr val="1F6F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160020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0" y="20116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500" dirty="0">
                <a:solidFill>
                  <a:srgbClr val="1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insumo del chuño</a:t>
            </a:r>
            <a:endParaRPr lang="en-US" sz="15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500" dirty="0">
                <a:solidFill>
                  <a:srgbClr val="1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 que se conserva por años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143000" y="3520440"/>
            <a:ext cx="7406640" cy="2377440"/>
          </a:xfrm>
          <a:prstGeom prst="roundRect">
            <a:avLst>
              <a:gd name="adj" fmla="val 3077"/>
            </a:avLst>
          </a:prstGeom>
          <a:solidFill>
            <a:srgbClr val="0D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1463040" y="3840480"/>
            <a:ext cx="6766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0FB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3 800 m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1463040" y="4800600"/>
            <a:ext cx="6766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 donde hoy se decide por experiencia, y sin datos,</a:t>
            </a:r>
            <a:endParaRPr lang="en-US" sz="15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protege el cultivo o si se tiende la papa.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796528" y="1371600"/>
            <a:ext cx="2286000" cy="4572000"/>
          </a:xfrm>
          <a:prstGeom prst="roundRect">
            <a:avLst>
              <a:gd name="adj" fmla="val 3200"/>
            </a:avLst>
          </a:prstGeom>
          <a:solidFill>
            <a:srgbClr val="16232E"/>
          </a:solidFill>
          <a:ln/>
        </p:spPr>
      </p:sp>
      <p:pic>
        <p:nvPicPr>
          <p:cNvPr id="15" name="Image 0" descr="D:\Dev\02_UNIVERSIDAD\FrostPuno\.claude\worktrees\flutter-frost-prediction-puno-d1a1d7\docs\presentacion\img\chu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6548" y="1481328"/>
            <a:ext cx="1961388" cy="43525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658368" y="31089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E0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produccion, no una maqueta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143000" y="1463040"/>
            <a:ext cx="63093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1828800"/>
            <a:ext cx="548640" cy="54864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48840" y="16916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web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48840" y="21214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desplegada en Vercel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8745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6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frost-puno.vercel.app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43000" y="2971800"/>
            <a:ext cx="63093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17320" y="3337560"/>
            <a:ext cx="548640" cy="54864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3" name="Text 11"/>
          <p:cNvSpPr/>
          <p:nvPr/>
        </p:nvSpPr>
        <p:spPr>
          <a:xfrm>
            <a:off x="141732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48840" y="320040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Android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148840" y="36301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 release instalable, 47 MB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33832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6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app-release.apk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143000" y="4480560"/>
            <a:ext cx="63093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17320" y="4846320"/>
            <a:ext cx="548640" cy="54864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9" name="Text 17"/>
          <p:cNvSpPr/>
          <p:nvPr/>
        </p:nvSpPr>
        <p:spPr>
          <a:xfrm>
            <a:off x="1417320" y="4846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148840" y="470916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148840" y="51389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desplegada en Render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48920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6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frost-puno.onrender.com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01000" y="1463040"/>
            <a:ext cx="3063240" cy="4297680"/>
          </a:xfrm>
          <a:prstGeom prst="roundRect">
            <a:avLst>
              <a:gd name="adj" fmla="val 2388"/>
            </a:avLst>
          </a:prstGeom>
          <a:solidFill>
            <a:srgbClr val="16232E"/>
          </a:solidFill>
          <a:ln/>
        </p:spPr>
      </p:sp>
      <p:pic>
        <p:nvPicPr>
          <p:cNvPr id="24" name="Image 0" descr="D:\Dev\02_UNIVERSIDAD\FrostPuno\.claude\worktrees\flutter-frost-prediction-puno-d1a1d7\docs\presentacion\img\home_oscu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1673352"/>
            <a:ext cx="1920240" cy="378561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001000" y="53949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0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Inicio: riesgo del dia y navegacion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658368" y="31089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E0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Cuatro piezas conectadas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143000" y="1600200"/>
            <a:ext cx="21717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1750">
            <a:solidFill>
              <a:srgbClr val="3D5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52728" y="1828800"/>
            <a:ext cx="19522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52728" y="2331720"/>
            <a:ext cx="19522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3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y</a:t>
            </a:r>
            <a:endParaRPr lang="en-US" sz="13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3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14700" y="2331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726180" y="1600200"/>
            <a:ext cx="21717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1750">
            <a:solidFill>
              <a:srgbClr val="1F6F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35908" y="1828800"/>
            <a:ext cx="19522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35908" y="2331720"/>
            <a:ext cx="19522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3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+ metadata</a:t>
            </a:r>
            <a:endParaRPr lang="en-US" sz="13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3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versionados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97880" y="2331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309360" y="1600200"/>
            <a:ext cx="21717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1750">
            <a:solidFill>
              <a:srgbClr val="3D5A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828800"/>
            <a:ext cx="19522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FastAPI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19088" y="2331720"/>
            <a:ext cx="19522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3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el modelo</a:t>
            </a:r>
            <a:endParaRPr lang="en-US" sz="13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3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predice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81060" y="2331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892540" y="1600200"/>
            <a:ext cx="21717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31750">
            <a:solidFill>
              <a:srgbClr val="EE6C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02268" y="1828800"/>
            <a:ext cx="19522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Flutter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02268" y="2331720"/>
            <a:ext cx="19522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3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y</a:t>
            </a:r>
            <a:endParaRPr lang="en-US" sz="13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3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143000" y="3886200"/>
            <a:ext cx="9921240" cy="1463040"/>
          </a:xfrm>
          <a:prstGeom prst="roundRect">
            <a:avLst>
              <a:gd name="adj" fmla="val 3750"/>
            </a:avLst>
          </a:prstGeom>
          <a:solidFill>
            <a:srgbClr val="EDF3F5"/>
          </a:solidFill>
          <a:ln/>
        </p:spPr>
      </p:sp>
      <p:sp>
        <p:nvSpPr>
          <p:cNvPr id="21" name="Text 19"/>
          <p:cNvSpPr/>
          <p:nvPr/>
        </p:nvSpPr>
        <p:spPr>
          <a:xfrm>
            <a:off x="1508760" y="4069080"/>
            <a:ext cx="9189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clave del diseño:  </a:t>
            </a:r>
            <a:r>
              <a:rPr lang="en-US" sz="1600" dirty="0">
                <a:solidFill>
                  <a:srgbClr val="1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lista de caracteristicas del modelo es el contrato entre el pipeline y el backend. Reentrenar no obliga a tocar el codigo del servidor.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5623560"/>
            <a:ext cx="9921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 ·  Vercel  ·  Supabase  ·  Open-Meteo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658368" y="31089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E0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43000" y="868680"/>
            <a:ext cx="2514600" cy="5029200"/>
          </a:xfrm>
          <a:prstGeom prst="roundRect">
            <a:avLst>
              <a:gd name="adj" fmla="val 2909"/>
            </a:avLst>
          </a:prstGeom>
          <a:solidFill>
            <a:srgbClr val="16232E"/>
          </a:solidFill>
          <a:ln/>
        </p:spPr>
      </p:sp>
      <p:pic>
        <p:nvPicPr>
          <p:cNvPr id="5" name="Image 0" descr="D:\Dev\02_UNIVERSIDAD\FrostPuno\.claude\worktrees\flutter-frost-prediction-puno-d1a1d7\docs\presentacion\img\zonas_kmea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596" y="1005840"/>
            <a:ext cx="2121408" cy="4709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977640" y="457200"/>
            <a:ext cx="7086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Nadie escribio la regla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3977640" y="1234440"/>
            <a:ext cx="7086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agrupa los distritos por su regimen termico. El nivel de riesgo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de los grupos que el algoritmo descubre, sin etiquetas.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977640" y="2423160"/>
            <a:ext cx="2179320" cy="1508760"/>
          </a:xfrm>
          <a:prstGeom prst="roundRect">
            <a:avLst>
              <a:gd name="adj" fmla="val 3636"/>
            </a:avLst>
          </a:prstGeom>
          <a:solidFill>
            <a:srgbClr val="0D1B2A"/>
          </a:solidFill>
          <a:ln/>
        </p:spPr>
      </p:sp>
      <p:sp>
        <p:nvSpPr>
          <p:cNvPr id="9" name="Text 6"/>
          <p:cNvSpPr/>
          <p:nvPr/>
        </p:nvSpPr>
        <p:spPr>
          <a:xfrm>
            <a:off x="4050792" y="2651760"/>
            <a:ext cx="20330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FB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K-Means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4050792" y="3401568"/>
            <a:ext cx="2033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supervisado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31280" y="2423160"/>
            <a:ext cx="2179320" cy="1508760"/>
          </a:xfrm>
          <a:prstGeom prst="roundRect">
            <a:avLst>
              <a:gd name="adj" fmla="val 3636"/>
            </a:avLst>
          </a:prstGeom>
          <a:solidFill>
            <a:srgbClr val="0D1B2A"/>
          </a:solidFill>
          <a:ln/>
        </p:spPr>
      </p:sp>
      <p:sp>
        <p:nvSpPr>
          <p:cNvPr id="12" name="Text 9"/>
          <p:cNvSpPr/>
          <p:nvPr/>
        </p:nvSpPr>
        <p:spPr>
          <a:xfrm>
            <a:off x="6504432" y="2651760"/>
            <a:ext cx="20330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FB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0.419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504432" y="3401568"/>
            <a:ext cx="2033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884920" y="2423160"/>
            <a:ext cx="2179320" cy="1508760"/>
          </a:xfrm>
          <a:prstGeom prst="roundRect">
            <a:avLst>
              <a:gd name="adj" fmla="val 3636"/>
            </a:avLst>
          </a:prstGeom>
          <a:solidFill>
            <a:srgbClr val="0D1B2A"/>
          </a:solidFill>
          <a:ln/>
        </p:spPr>
      </p:sp>
      <p:sp>
        <p:nvSpPr>
          <p:cNvPr id="15" name="Text 12"/>
          <p:cNvSpPr/>
          <p:nvPr/>
        </p:nvSpPr>
        <p:spPr>
          <a:xfrm>
            <a:off x="8958072" y="2651760"/>
            <a:ext cx="20330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FB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958072" y="3401568"/>
            <a:ext cx="2033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977640" y="4251960"/>
            <a:ext cx="708660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97680" y="4434840"/>
            <a:ext cx="6446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Macusani</a:t>
            </a:r>
            <a:r>
              <a:rPr lang="en-US" sz="1500" dirty="0">
                <a:solidFill>
                  <a:srgbClr val="1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(4 315 m) queda en riesgo alto,
</a:t>
            </a:r>
            <a:r>
              <a:rPr lang="en-US" sz="15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Sandia</a:t>
            </a:r>
            <a:r>
              <a:rPr lang="en-US" sz="1500" dirty="0">
                <a:solidFill>
                  <a:srgbClr val="1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(2 170 m, en valle) en riesgo bajo.
Coincide con la geografia, y no lo programamos.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658368" y="31089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E0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9921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Hiperparametros optimizados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150815" y="1178247"/>
            <a:ext cx="9921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de 24 combinaciones, maximizando silhouette.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1737360"/>
          <a:ext cx="6537960" cy="210312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Hiperparametro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Valores explorados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Elegido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n_clusters (k)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3, 4, 5, 6, 7, 8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k-means++, random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n_init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10, 25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StandardScaler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7955280" y="1737360"/>
            <a:ext cx="3108960" cy="960120"/>
          </a:xfrm>
          <a:prstGeom prst="roundRect">
            <a:avLst>
              <a:gd name="adj" fmla="val 5714"/>
            </a:avLst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8092440" y="1847088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0FB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0.419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326880" y="18745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326880" y="21945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cohesion y separacion (mas alto, mejor)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955280" y="2834640"/>
            <a:ext cx="3108960" cy="960120"/>
          </a:xfrm>
          <a:prstGeom prst="roundRect">
            <a:avLst>
              <a:gd name="adj" fmla="val 5714"/>
            </a:avLst>
          </a:prstGeom>
          <a:solidFill>
            <a:srgbClr val="0D1B2A"/>
          </a:solidFill>
          <a:ln/>
        </p:spPr>
      </p:sp>
      <p:sp>
        <p:nvSpPr>
          <p:cNvPr id="12" name="Text 9"/>
          <p:cNvSpPr/>
          <p:nvPr/>
        </p:nvSpPr>
        <p:spPr>
          <a:xfrm>
            <a:off x="8092440" y="2944368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0FB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0.813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9326880" y="29718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Davies-Bouldin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326880" y="3291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dispersion entre grupos (mas bajo, mejor)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143000" y="4114800"/>
            <a:ext cx="9921240" cy="1600200"/>
          </a:xfrm>
          <a:prstGeom prst="roundRect">
            <a:avLst>
              <a:gd name="adj" fmla="val 3429"/>
            </a:avLst>
          </a:prstGeom>
          <a:solidFill>
            <a:srgbClr val="EDF3F5"/>
          </a:solidFill>
          <a:ln/>
        </p:spPr>
      </p:sp>
      <p:sp>
        <p:nvSpPr>
          <p:cNvPr id="16" name="Text 13"/>
          <p:cNvSpPr/>
          <p:nvPr/>
        </p:nvSpPr>
        <p:spPr>
          <a:xfrm>
            <a:off x="1508760" y="4297680"/>
            <a:ext cx="9189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no accuracy ni F1:  </a:t>
            </a:r>
            <a:r>
              <a:rPr lang="en-US" sz="1500" dirty="0">
                <a:solidFill>
                  <a:srgbClr val="1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una verdad de terreno de "aqui hubo helada" para estos distritos. Al ser no supervisado, se mide la calidad de la estructura descubierta, no el acierto contra una etiqueta.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143000" y="5897880"/>
            <a:ext cx="9921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grid completo queda registrado en cluster_metadata.json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658368" y="31089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E0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9921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el sistema todavia no hace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143000" y="1170432"/>
            <a:ext cx="9921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informe honesto vale mas que uno perfecto.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" y="1920240"/>
            <a:ext cx="9921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7320" y="2185416"/>
            <a:ext cx="566928" cy="566928"/>
          </a:xfrm>
          <a:prstGeom prst="ellipse">
            <a:avLst/>
          </a:prstGeom>
          <a:solidFill>
            <a:srgbClr val="EE6C4D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21854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94560" y="2121408"/>
            <a:ext cx="8549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derivado del perfil termico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194560" y="2542032"/>
            <a:ext cx="8549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 registro oficial de heladas observadas por distrito con el que validar.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43000" y="3218688"/>
            <a:ext cx="9921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17320" y="3483864"/>
            <a:ext cx="566928" cy="566928"/>
          </a:xfrm>
          <a:prstGeom prst="ellipse">
            <a:avLst/>
          </a:prstGeom>
          <a:solidFill>
            <a:srgbClr val="EE6C4D"/>
          </a:solidFill>
          <a:ln/>
        </p:spPr>
      </p:sp>
      <p:sp>
        <p:nvSpPr>
          <p:cNvPr id="13" name="Text 11"/>
          <p:cNvSpPr/>
          <p:nvPr/>
        </p:nvSpPr>
        <p:spPr>
          <a:xfrm>
            <a:off x="1417320" y="34838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94560" y="3419856"/>
            <a:ext cx="8549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SENAMHI sin API publica estable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194560" y="3840480"/>
            <a:ext cx="8549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fuente oficial prioritaria, pero Open-Meteo es la fuente operativa real.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143000" y="4517136"/>
            <a:ext cx="9921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5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17320" y="4782312"/>
            <a:ext cx="566928" cy="566928"/>
          </a:xfrm>
          <a:prstGeom prst="ellipse">
            <a:avLst/>
          </a:prstGeom>
          <a:solidFill>
            <a:srgbClr val="EE6C4D"/>
          </a:solidFill>
          <a:ln/>
        </p:spPr>
      </p:sp>
      <p:sp>
        <p:nvSpPr>
          <p:cNvPr id="18" name="Text 16"/>
          <p:cNvSpPr/>
          <p:nvPr/>
        </p:nvSpPr>
        <p:spPr>
          <a:xfrm>
            <a:off x="1417320" y="47823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194560" y="4718304"/>
            <a:ext cx="8549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Umbrales de chuño y ganado del MVP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194560" y="5138928"/>
            <a:ext cx="8549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Documentados con fuentes, pero no son cifras oficiales.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5897880"/>
            <a:ext cx="9921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invalida la arquitectura ni el ciclo de vida que mostramos.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entregamos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914400" y="16002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F6F7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00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37360" y="155448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0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no supervisado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737360" y="198424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con hiperparametros optimizados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8346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F6F7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834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37360" y="278892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0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Desplegado en produccion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737360" y="321868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Android y API en la nube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40690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F6F78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069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37360" y="402336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0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automatizado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737360" y="445312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reentrena solo y el quality gate lo protege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20840" y="1600200"/>
            <a:ext cx="461772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</p:spPr>
      </p:sp>
      <p:pic>
        <p:nvPicPr>
          <p:cNvPr id="16" name="Image 0" descr="D:\Dev\02_UNIVERSIDAD\FrostPuno\.claude\worktrees\flutter-frost-prediction-puno-d1a1d7\docs\presentacion\img\actions_detal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737360"/>
            <a:ext cx="4343400" cy="16916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720840" y="365760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9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workflows de integracion continua, en verde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720840" y="4160520"/>
            <a:ext cx="1463040" cy="960120"/>
          </a:xfrm>
          <a:prstGeom prst="roundRect">
            <a:avLst>
              <a:gd name="adj" fmla="val 5714"/>
            </a:avLst>
          </a:prstGeom>
          <a:solidFill>
            <a:srgbClr val="16232E"/>
          </a:solidFill>
          <a:ln/>
        </p:spPr>
      </p:sp>
      <p:sp>
        <p:nvSpPr>
          <p:cNvPr id="19" name="Text 16"/>
          <p:cNvSpPr/>
          <p:nvPr/>
        </p:nvSpPr>
        <p:spPr>
          <a:xfrm>
            <a:off x="6775704" y="4279392"/>
            <a:ext cx="1353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FB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+ 6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775704" y="4690872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293608" y="4160520"/>
            <a:ext cx="1463040" cy="960120"/>
          </a:xfrm>
          <a:prstGeom prst="roundRect">
            <a:avLst>
              <a:gd name="adj" fmla="val 5714"/>
            </a:avLst>
          </a:prstGeom>
          <a:solidFill>
            <a:srgbClr val="16232E"/>
          </a:solidFill>
          <a:ln/>
        </p:spPr>
      </p:sp>
      <p:sp>
        <p:nvSpPr>
          <p:cNvPr id="22" name="Text 19"/>
          <p:cNvSpPr/>
          <p:nvPr/>
        </p:nvSpPr>
        <p:spPr>
          <a:xfrm>
            <a:off x="8348472" y="4279392"/>
            <a:ext cx="1353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FB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0.419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348472" y="4690872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9866376" y="4160520"/>
            <a:ext cx="1463040" cy="960120"/>
          </a:xfrm>
          <a:prstGeom prst="roundRect">
            <a:avLst>
              <a:gd name="adj" fmla="val 5714"/>
            </a:avLst>
          </a:prstGeom>
          <a:solidFill>
            <a:srgbClr val="16232E"/>
          </a:solidFill>
          <a:ln/>
        </p:spPr>
      </p:sp>
      <p:sp>
        <p:nvSpPr>
          <p:cNvPr id="25" name="Text 22"/>
          <p:cNvSpPr/>
          <p:nvPr/>
        </p:nvSpPr>
        <p:spPr>
          <a:xfrm>
            <a:off x="9921240" y="4279392"/>
            <a:ext cx="1353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FB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9921240" y="4690872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B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914400" y="5349240"/>
            <a:ext cx="1371600" cy="45720"/>
          </a:xfrm>
          <a:prstGeom prst="rect">
            <a:avLst/>
          </a:prstGeom>
          <a:solidFill>
            <a:srgbClr val="EE6C4D"/>
          </a:solidFill>
          <a:ln/>
        </p:spPr>
      </p:sp>
      <p:sp>
        <p:nvSpPr>
          <p:cNvPr id="28" name="Text 25"/>
          <p:cNvSpPr/>
          <p:nvPr/>
        </p:nvSpPr>
        <p:spPr>
          <a:xfrm>
            <a:off x="914400" y="55321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</a:t>
            </a:r>
            <a:endParaRPr lang="en-US" sz="2800" dirty="0"/>
          </a:p>
        </p:txBody>
      </p:sp>
      <p:sp>
        <p:nvSpPr>
          <p:cNvPr id="29" name="Text 26"/>
          <p:cNvSpPr/>
          <p:nvPr/>
        </p:nvSpPr>
        <p:spPr>
          <a:xfrm>
            <a:off x="4572000" y="5623560"/>
            <a:ext cx="6720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9BC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frost-puno.vercel.app   ·   github.com/JosephElvisMaman1/frost-puno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592</Words>
  <Application>Microsoft Office PowerPoint</Application>
  <PresentationFormat>Panorámica</PresentationFormat>
  <Paragraphs>130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FrostPuno - Apertura y cierre</dc:title>
  <dc:subject>PptxGenJS Presentation</dc:subject>
  <dc:creator>Joseph Elvis Mamani Mendoza</dc:creator>
  <cp:lastModifiedBy>Joseph Elvis</cp:lastModifiedBy>
  <cp:revision>3</cp:revision>
  <dcterms:created xsi:type="dcterms:W3CDTF">2026-07-31T16:38:25Z</dcterms:created>
  <dcterms:modified xsi:type="dcterms:W3CDTF">2026-07-31T20:17:57Z</dcterms:modified>
</cp:coreProperties>
</file>