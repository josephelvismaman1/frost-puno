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807647" y="0"/>
            <a:ext cx="384048" cy="6858000"/>
          </a:xfrm>
          <a:prstGeom prst="rect">
            <a:avLst/>
          </a:prstGeom>
          <a:solidFill>
            <a:srgbClr val="EE6C4D"/>
          </a:solidFill>
          <a:ln/>
        </p:spPr>
      </p:sp>
      <p:pic>
        <p:nvPicPr>
          <p:cNvPr id="3" name="Image 0" descr="D:\Dev\02_UNIVERSIDAD\FrostPuno\.claude\worktrees\flutter-frost-prediction-puno-d1a1d7\docs\presentacion\img\escudo_un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1234440"/>
            <a:ext cx="1920240" cy="207568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85800" y="3429000"/>
            <a:ext cx="23774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A9BC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Universidad Nacional</a:t>
            </a:r>
            <a:endParaRPr lang="en-US" sz="1200" dirty="0"/>
          </a:p>
          <a:p>
            <a:pPr algn="ctr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A9BC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 Altiplano — Puno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3520440" y="1097280"/>
            <a:ext cx="73152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FrostPuno</a:t>
            </a:r>
            <a:endParaRPr lang="en-US" sz="6000" dirty="0"/>
          </a:p>
        </p:txBody>
      </p:sp>
      <p:sp>
        <p:nvSpPr>
          <p:cNvPr id="6" name="Text 3"/>
          <p:cNvSpPr/>
          <p:nvPr/>
        </p:nvSpPr>
        <p:spPr>
          <a:xfrm>
            <a:off x="3566160" y="2286000"/>
            <a:ext cx="72237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800"/>
              </a:lnSpc>
              <a:buNone/>
            </a:pPr>
            <a:r>
              <a:rPr lang="en-US" sz="1800" dirty="0">
                <a:solidFill>
                  <a:srgbClr val="E0FB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Prediccion de heladas y apoyo a la produccion de chuño</a:t>
            </a:r>
            <a:endParaRPr lang="en-US" sz="1800" dirty="0"/>
          </a:p>
          <a:p>
            <a:pPr indent="0" marL="0">
              <a:lnSpc>
                <a:spcPts val="2800"/>
              </a:lnSpc>
              <a:buNone/>
            </a:pPr>
            <a:r>
              <a:rPr lang="en-US" sz="1800" dirty="0">
                <a:solidFill>
                  <a:srgbClr val="E0FB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el altiplano de Puno</a:t>
            </a:r>
            <a:endParaRPr lang="en-US" sz="1800" dirty="0"/>
          </a:p>
        </p:txBody>
      </p:sp>
      <p:sp>
        <p:nvSpPr>
          <p:cNvPr id="7" name="Shape 4"/>
          <p:cNvSpPr/>
          <p:nvPr/>
        </p:nvSpPr>
        <p:spPr>
          <a:xfrm>
            <a:off x="3566160" y="3291840"/>
            <a:ext cx="1371600" cy="45720"/>
          </a:xfrm>
          <a:prstGeom prst="rect">
            <a:avLst/>
          </a:prstGeom>
          <a:solidFill>
            <a:srgbClr val="EE6C4D"/>
          </a:solidFill>
          <a:ln/>
        </p:spPr>
      </p:sp>
      <p:sp>
        <p:nvSpPr>
          <p:cNvPr id="8" name="Text 5"/>
          <p:cNvSpPr/>
          <p:nvPr/>
        </p:nvSpPr>
        <p:spPr>
          <a:xfrm>
            <a:off x="3566160" y="3611880"/>
            <a:ext cx="72237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8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Mamani Mendoza, Joseph Elvis   ·   Lipe Machaca, Juan Artemio</a:t>
            </a:r>
            <a:endParaRPr lang="en-US" sz="1500" dirty="0"/>
          </a:p>
          <a:p>
            <a:pPr indent="0" marL="0">
              <a:lnSpc>
                <a:spcPts val="28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Ticona Erquinigo, Jhoel Yovani   ·   Tapara Ccahuana, Paul Renmis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3566160" y="4709160"/>
            <a:ext cx="6400800" cy="640080"/>
          </a:xfrm>
          <a:prstGeom prst="roundRect">
            <a:avLst>
              <a:gd name="adj" fmla="val 11429"/>
            </a:avLst>
          </a:prstGeom>
          <a:solidFill>
            <a:srgbClr val="16232E"/>
          </a:solidFill>
          <a:ln/>
        </p:spPr>
      </p:sp>
      <p:sp>
        <p:nvSpPr>
          <p:cNvPr id="10" name="Text 7"/>
          <p:cNvSpPr/>
          <p:nvPr/>
        </p:nvSpPr>
        <p:spPr>
          <a:xfrm>
            <a:off x="3840480" y="4709160"/>
            <a:ext cx="5943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0FB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Aprendizaje de Maquina  ·  Segunda Unidad  ·  UNA-Puno  ·  2026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9F9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928" cy="6858000"/>
          </a:xfrm>
          <a:prstGeom prst="rect">
            <a:avLst/>
          </a:prstGeom>
          <a:solidFill>
            <a:srgbClr val="0D1B2A"/>
          </a:solidFill>
          <a:ln/>
        </p:spPr>
      </p:sp>
      <p:sp>
        <p:nvSpPr>
          <p:cNvPr id="3" name="Text 1"/>
          <p:cNvSpPr/>
          <p:nvPr/>
        </p:nvSpPr>
        <p:spPr>
          <a:xfrm rot="16200000">
            <a:off x="-658368" y="3108960"/>
            <a:ext cx="1920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E0FB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PROBLEMA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1143000" y="457200"/>
            <a:ext cx="7680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0D1B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Una helada, dos caras</a:t>
            </a:r>
            <a:endParaRPr lang="en-US" sz="3800" dirty="0"/>
          </a:p>
        </p:txBody>
      </p:sp>
      <p:sp>
        <p:nvSpPr>
          <p:cNvPr id="5" name="Shape 3"/>
          <p:cNvSpPr/>
          <p:nvPr/>
        </p:nvSpPr>
        <p:spPr>
          <a:xfrm>
            <a:off x="1143000" y="1417320"/>
            <a:ext cx="3520440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31750">
            <a:solidFill>
              <a:srgbClr val="EE6C4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417320" y="1600200"/>
            <a:ext cx="2971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EE6C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DESTRUYE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417320" y="2011680"/>
            <a:ext cx="29718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800"/>
              </a:lnSpc>
              <a:buNone/>
            </a:pPr>
            <a:r>
              <a:rPr lang="en-US" sz="1500" dirty="0">
                <a:solidFill>
                  <a:srgbClr val="1A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Daña los cultivos de la campaña</a:t>
            </a:r>
            <a:endParaRPr lang="en-US" sz="1500" dirty="0"/>
          </a:p>
          <a:p>
            <a:pPr indent="0" marL="0">
              <a:lnSpc>
                <a:spcPts val="2800"/>
              </a:lnSpc>
              <a:buNone/>
            </a:pPr>
            <a:r>
              <a:rPr lang="en-US" sz="1500" dirty="0">
                <a:solidFill>
                  <a:srgbClr val="1A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Mata crias de alpaca y ovino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029200" y="1417320"/>
            <a:ext cx="3520440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31750">
            <a:solidFill>
              <a:srgbClr val="1F6F7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303520" y="1600200"/>
            <a:ext cx="2971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1F6F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PRODUCE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303520" y="2011680"/>
            <a:ext cx="29718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800"/>
              </a:lnSpc>
              <a:buNone/>
            </a:pPr>
            <a:r>
              <a:rPr lang="en-US" sz="1500" dirty="0">
                <a:solidFill>
                  <a:srgbClr val="1A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el insumo del chuño</a:t>
            </a:r>
            <a:endParaRPr lang="en-US" sz="1500" dirty="0"/>
          </a:p>
          <a:p>
            <a:pPr indent="0" marL="0">
              <a:lnSpc>
                <a:spcPts val="2800"/>
              </a:lnSpc>
              <a:buNone/>
            </a:pPr>
            <a:r>
              <a:rPr lang="en-US" sz="1500" dirty="0">
                <a:solidFill>
                  <a:srgbClr val="1A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Papa que se conserva por años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1143000" y="3520440"/>
            <a:ext cx="7406640" cy="2377440"/>
          </a:xfrm>
          <a:prstGeom prst="roundRect">
            <a:avLst>
              <a:gd name="adj" fmla="val 3077"/>
            </a:avLst>
          </a:prstGeom>
          <a:solidFill>
            <a:srgbClr val="0D1B2A"/>
          </a:solidFill>
          <a:ln/>
        </p:spPr>
      </p:sp>
      <p:sp>
        <p:nvSpPr>
          <p:cNvPr id="12" name="Text 10"/>
          <p:cNvSpPr/>
          <p:nvPr/>
        </p:nvSpPr>
        <p:spPr>
          <a:xfrm>
            <a:off x="1463040" y="3840480"/>
            <a:ext cx="67665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E0FBF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&gt; 3 800 m</a:t>
            </a:r>
            <a:endParaRPr lang="en-US" sz="4400" dirty="0"/>
          </a:p>
        </p:txBody>
      </p:sp>
      <p:sp>
        <p:nvSpPr>
          <p:cNvPr id="13" name="Text 11"/>
          <p:cNvSpPr/>
          <p:nvPr/>
        </p:nvSpPr>
        <p:spPr>
          <a:xfrm>
            <a:off x="1463040" y="4800600"/>
            <a:ext cx="67665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Altitud donde hoy se decide por experiencia, y sin datos,</a:t>
            </a:r>
            <a:endParaRPr lang="en-US" sz="15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se protege el cultivo o si se tiende la papa.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8796528" y="1371600"/>
            <a:ext cx="2286000" cy="4572000"/>
          </a:xfrm>
          <a:prstGeom prst="roundRect">
            <a:avLst>
              <a:gd name="adj" fmla="val 3200"/>
            </a:avLst>
          </a:prstGeom>
          <a:solidFill>
            <a:srgbClr val="16232E"/>
          </a:solidFill>
          <a:ln/>
        </p:spPr>
      </p:sp>
      <p:pic>
        <p:nvPicPr>
          <p:cNvPr id="15" name="Image 0" descr="D:\Dev\02_UNIVERSIDAD\FrostPuno\.claude\worktrees\flutter-frost-prediction-puno-d1a1d7\docs\presentacion\img\chun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56548" y="1481328"/>
            <a:ext cx="1961388" cy="435254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9F9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928" cy="6858000"/>
          </a:xfrm>
          <a:prstGeom prst="rect">
            <a:avLst/>
          </a:prstGeom>
          <a:solidFill>
            <a:srgbClr val="0D1B2A"/>
          </a:solidFill>
          <a:ln/>
        </p:spPr>
      </p:sp>
      <p:sp>
        <p:nvSpPr>
          <p:cNvPr id="3" name="Text 1"/>
          <p:cNvSpPr/>
          <p:nvPr/>
        </p:nvSpPr>
        <p:spPr>
          <a:xfrm rot="16200000">
            <a:off x="-658368" y="3108960"/>
            <a:ext cx="1920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E0FB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PRODUCTO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1143000" y="457200"/>
            <a:ext cx="7863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D1B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En produccion, no una maqueta</a:t>
            </a:r>
            <a:endParaRPr lang="en-US" sz="3600" dirty="0"/>
          </a:p>
        </p:txBody>
      </p:sp>
      <p:sp>
        <p:nvSpPr>
          <p:cNvPr id="5" name="Shape 3"/>
          <p:cNvSpPr/>
          <p:nvPr/>
        </p:nvSpPr>
        <p:spPr>
          <a:xfrm>
            <a:off x="1143000" y="1463040"/>
            <a:ext cx="6309360" cy="128016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12700">
            <a:solidFill>
              <a:srgbClr val="E1E5E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417320" y="1828800"/>
            <a:ext cx="548640" cy="548640"/>
          </a:xfrm>
          <a:prstGeom prst="ellipse">
            <a:avLst/>
          </a:prstGeom>
          <a:solidFill>
            <a:srgbClr val="0D1B2A"/>
          </a:solidFill>
          <a:ln/>
        </p:spPr>
      </p:sp>
      <p:sp>
        <p:nvSpPr>
          <p:cNvPr id="7" name="Text 5"/>
          <p:cNvSpPr/>
          <p:nvPr/>
        </p:nvSpPr>
        <p:spPr>
          <a:xfrm>
            <a:off x="1417320" y="182880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0FB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2148840" y="1691640"/>
            <a:ext cx="29260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web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2148840" y="2121408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447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Flutter desplegada en Vercel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846320" y="1874520"/>
            <a:ext cx="2331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1F6F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frost-puno.vercel.app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1143000" y="2971800"/>
            <a:ext cx="6309360" cy="128016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12700">
            <a:solidFill>
              <a:srgbClr val="E1E5E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17320" y="3337560"/>
            <a:ext cx="548640" cy="548640"/>
          </a:xfrm>
          <a:prstGeom prst="ellipse">
            <a:avLst/>
          </a:prstGeom>
          <a:solidFill>
            <a:srgbClr val="0D1B2A"/>
          </a:solidFill>
          <a:ln/>
        </p:spPr>
      </p:sp>
      <p:sp>
        <p:nvSpPr>
          <p:cNvPr id="13" name="Text 11"/>
          <p:cNvSpPr/>
          <p:nvPr/>
        </p:nvSpPr>
        <p:spPr>
          <a:xfrm>
            <a:off x="1417320" y="333756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0FB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2148840" y="3200400"/>
            <a:ext cx="29260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Android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2148840" y="3630168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447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APK release instalable, 47 MB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4846320" y="3383280"/>
            <a:ext cx="2331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1F6F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app-release.apk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1143000" y="4480560"/>
            <a:ext cx="6309360" cy="128016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12700">
            <a:solidFill>
              <a:srgbClr val="E1E5E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417320" y="4846320"/>
            <a:ext cx="548640" cy="548640"/>
          </a:xfrm>
          <a:prstGeom prst="ellipse">
            <a:avLst/>
          </a:prstGeom>
          <a:solidFill>
            <a:srgbClr val="0D1B2A"/>
          </a:solidFill>
          <a:ln/>
        </p:spPr>
      </p:sp>
      <p:sp>
        <p:nvSpPr>
          <p:cNvPr id="19" name="Text 17"/>
          <p:cNvSpPr/>
          <p:nvPr/>
        </p:nvSpPr>
        <p:spPr>
          <a:xfrm>
            <a:off x="1417320" y="484632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0FB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2148840" y="4709160"/>
            <a:ext cx="29260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2148840" y="5138928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447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FastAPI desplegada en Render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846320" y="4892040"/>
            <a:ext cx="2331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1F6F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frost-puno.onrender.com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8001000" y="1463040"/>
            <a:ext cx="3063240" cy="4297680"/>
          </a:xfrm>
          <a:prstGeom prst="roundRect">
            <a:avLst>
              <a:gd name="adj" fmla="val 2388"/>
            </a:avLst>
          </a:prstGeom>
          <a:solidFill>
            <a:srgbClr val="16232E"/>
          </a:solidFill>
          <a:ln/>
        </p:spPr>
      </p:sp>
      <p:pic>
        <p:nvPicPr>
          <p:cNvPr id="24" name="Image 0" descr="D:\Dev\02_UNIVERSIDAD\FrostPuno\.claude\worktrees\flutter-frost-prediction-puno-d1a1d7\docs\presentacion\img\home_oscu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72500" y="1673352"/>
            <a:ext cx="1920240" cy="3785616"/>
          </a:xfrm>
          <a:prstGeom prst="rect">
            <a:avLst/>
          </a:prstGeom>
        </p:spPr>
      </p:pic>
      <p:sp>
        <p:nvSpPr>
          <p:cNvPr id="25" name="Text 22"/>
          <p:cNvSpPr/>
          <p:nvPr/>
        </p:nvSpPr>
        <p:spPr>
          <a:xfrm>
            <a:off x="8001000" y="5394960"/>
            <a:ext cx="3063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FB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Inicio: riesgo del dia y navegacion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9F9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928" cy="6858000"/>
          </a:xfrm>
          <a:prstGeom prst="rect">
            <a:avLst/>
          </a:prstGeom>
          <a:solidFill>
            <a:srgbClr val="0D1B2A"/>
          </a:solidFill>
          <a:ln/>
        </p:spPr>
      </p:sp>
      <p:sp>
        <p:nvSpPr>
          <p:cNvPr id="3" name="Text 1"/>
          <p:cNvSpPr/>
          <p:nvPr/>
        </p:nvSpPr>
        <p:spPr>
          <a:xfrm rot="16200000">
            <a:off x="-658368" y="3108960"/>
            <a:ext cx="1920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E0FB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ARQUITECTURA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1143000" y="457200"/>
            <a:ext cx="7863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D1B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Cuatro piezas conectadas</a:t>
            </a:r>
            <a:endParaRPr lang="en-US" sz="3600" dirty="0"/>
          </a:p>
        </p:txBody>
      </p:sp>
      <p:sp>
        <p:nvSpPr>
          <p:cNvPr id="5" name="Shape 3"/>
          <p:cNvSpPr/>
          <p:nvPr/>
        </p:nvSpPr>
        <p:spPr>
          <a:xfrm>
            <a:off x="1143000" y="1600200"/>
            <a:ext cx="2171700" cy="1828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31750">
            <a:solidFill>
              <a:srgbClr val="3D5A8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52728" y="1828800"/>
            <a:ext cx="1952244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D5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ML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252728" y="2331720"/>
            <a:ext cx="1952244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4447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Ingesta y</a:t>
            </a:r>
            <a:endParaRPr lang="en-US" sz="1300" dirty="0"/>
          </a:p>
          <a:p>
            <a:pPr algn="ctr"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4447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entrenamiento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3314700" y="233172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3D5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3726180" y="1600200"/>
            <a:ext cx="2171700" cy="1828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31750">
            <a:solidFill>
              <a:srgbClr val="1F6F7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835908" y="1828800"/>
            <a:ext cx="1952244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6F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Registry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3835908" y="2331720"/>
            <a:ext cx="1952244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4447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 + metadata</a:t>
            </a:r>
            <a:endParaRPr lang="en-US" sz="1300" dirty="0"/>
          </a:p>
          <a:p>
            <a:pPr algn="ctr"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4447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versionados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5897880" y="233172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3D5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6309360" y="1600200"/>
            <a:ext cx="2171700" cy="1828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31750">
            <a:solidFill>
              <a:srgbClr val="3D5A8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19088" y="1828800"/>
            <a:ext cx="1952244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D5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FastAPI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6419088" y="2331720"/>
            <a:ext cx="1952244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4447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Carga el modelo</a:t>
            </a:r>
            <a:endParaRPr lang="en-US" sz="1300" dirty="0"/>
          </a:p>
          <a:p>
            <a:pPr algn="ctr"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4447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 predice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8481060" y="233172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3D5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8892540" y="1600200"/>
            <a:ext cx="2171700" cy="1828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31750">
            <a:solidFill>
              <a:srgbClr val="EE6C4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002268" y="1828800"/>
            <a:ext cx="1952244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E6C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Cliente Flutter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9002268" y="2331720"/>
            <a:ext cx="1952244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4447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y</a:t>
            </a:r>
            <a:endParaRPr lang="en-US" sz="1300" dirty="0"/>
          </a:p>
          <a:p>
            <a:pPr algn="ctr"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4447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Android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1143000" y="3886200"/>
            <a:ext cx="9921240" cy="1463040"/>
          </a:xfrm>
          <a:prstGeom prst="roundRect">
            <a:avLst>
              <a:gd name="adj" fmla="val 3750"/>
            </a:avLst>
          </a:prstGeom>
          <a:solidFill>
            <a:srgbClr val="EDF3F5"/>
          </a:solidFill>
          <a:ln/>
        </p:spPr>
      </p:sp>
      <p:sp>
        <p:nvSpPr>
          <p:cNvPr id="21" name="Text 19"/>
          <p:cNvSpPr/>
          <p:nvPr/>
        </p:nvSpPr>
        <p:spPr>
          <a:xfrm>
            <a:off x="1508760" y="4069080"/>
            <a:ext cx="91897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6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clave del diseño:  </a:t>
            </a:r>
            <a:pPr indent="0" marL="0">
              <a:lnSpc>
                <a:spcPts val="2600"/>
              </a:lnSpc>
              <a:buNone/>
            </a:pPr>
            <a:r>
              <a:rPr lang="en-US" sz="1600" dirty="0">
                <a:solidFill>
                  <a:srgbClr val="1A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lista de caracteristicas del modelo es el contrato entre el pipeline y el backend. Reentrenar no obliga a tocar el codigo del servidor.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1143000" y="5623560"/>
            <a:ext cx="9921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447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Render  ·  Vercel  ·  Supabase  ·  Open-Meteo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9F9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928" cy="6858000"/>
          </a:xfrm>
          <a:prstGeom prst="rect">
            <a:avLst/>
          </a:prstGeom>
          <a:solidFill>
            <a:srgbClr val="0D1B2A"/>
          </a:solidFill>
          <a:ln/>
        </p:spPr>
      </p:sp>
      <p:sp>
        <p:nvSpPr>
          <p:cNvPr id="3" name="Text 1"/>
          <p:cNvSpPr/>
          <p:nvPr/>
        </p:nvSpPr>
        <p:spPr>
          <a:xfrm rot="16200000">
            <a:off x="-658368" y="3108960"/>
            <a:ext cx="1920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E0FB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MODELO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1143000" y="868680"/>
            <a:ext cx="2514600" cy="5029200"/>
          </a:xfrm>
          <a:prstGeom prst="roundRect">
            <a:avLst>
              <a:gd name="adj" fmla="val 2909"/>
            </a:avLst>
          </a:prstGeom>
          <a:solidFill>
            <a:srgbClr val="16232E"/>
          </a:solidFill>
          <a:ln/>
        </p:spPr>
      </p:sp>
      <p:pic>
        <p:nvPicPr>
          <p:cNvPr id="5" name="Image 0" descr="D:\Dev\02_UNIVERSIDAD\FrostPuno\.claude\worktrees\flutter-frost-prediction-puno-d1a1d7\docs\presentacion\img\zonas_kmean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39596" y="1005840"/>
            <a:ext cx="2121408" cy="470916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3977640" y="457200"/>
            <a:ext cx="7086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D1B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Nadie escribio la regla</a:t>
            </a:r>
            <a:endParaRPr lang="en-US" sz="3600" dirty="0"/>
          </a:p>
        </p:txBody>
      </p:sp>
      <p:sp>
        <p:nvSpPr>
          <p:cNvPr id="7" name="Text 4"/>
          <p:cNvSpPr/>
          <p:nvPr/>
        </p:nvSpPr>
        <p:spPr>
          <a:xfrm>
            <a:off x="3977640" y="1234440"/>
            <a:ext cx="7086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4447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K-Means agrupa los distritos por su regimen termico. El nivel de riesgo</a:t>
            </a:r>
            <a:endParaRPr lang="en-US" sz="15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4447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 de los grupos que el algoritmo descubre, sin etiquetas.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3977640" y="2423160"/>
            <a:ext cx="2179320" cy="1508760"/>
          </a:xfrm>
          <a:prstGeom prst="roundRect">
            <a:avLst>
              <a:gd name="adj" fmla="val 3636"/>
            </a:avLst>
          </a:prstGeom>
          <a:solidFill>
            <a:srgbClr val="0D1B2A"/>
          </a:solidFill>
          <a:ln/>
        </p:spPr>
      </p:sp>
      <p:sp>
        <p:nvSpPr>
          <p:cNvPr id="9" name="Text 6"/>
          <p:cNvSpPr/>
          <p:nvPr/>
        </p:nvSpPr>
        <p:spPr>
          <a:xfrm>
            <a:off x="4050792" y="2651760"/>
            <a:ext cx="2033016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E0FBF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K-Means</a:t>
            </a:r>
            <a:endParaRPr lang="en-US" sz="2600" dirty="0"/>
          </a:p>
        </p:txBody>
      </p:sp>
      <p:sp>
        <p:nvSpPr>
          <p:cNvPr id="10" name="Text 7"/>
          <p:cNvSpPr/>
          <p:nvPr/>
        </p:nvSpPr>
        <p:spPr>
          <a:xfrm>
            <a:off x="4050792" y="3401568"/>
            <a:ext cx="203301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9BC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supervisado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431280" y="2423160"/>
            <a:ext cx="2179320" cy="1508760"/>
          </a:xfrm>
          <a:prstGeom prst="roundRect">
            <a:avLst>
              <a:gd name="adj" fmla="val 3636"/>
            </a:avLst>
          </a:prstGeom>
          <a:solidFill>
            <a:srgbClr val="0D1B2A"/>
          </a:solidFill>
          <a:ln/>
        </p:spPr>
      </p:sp>
      <p:sp>
        <p:nvSpPr>
          <p:cNvPr id="12" name="Text 9"/>
          <p:cNvSpPr/>
          <p:nvPr/>
        </p:nvSpPr>
        <p:spPr>
          <a:xfrm>
            <a:off x="6504432" y="2651760"/>
            <a:ext cx="2033016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E0FBF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0.419</a:t>
            </a:r>
            <a:endParaRPr lang="en-US" sz="2600" dirty="0"/>
          </a:p>
        </p:txBody>
      </p:sp>
      <p:sp>
        <p:nvSpPr>
          <p:cNvPr id="13" name="Text 10"/>
          <p:cNvSpPr/>
          <p:nvPr/>
        </p:nvSpPr>
        <p:spPr>
          <a:xfrm>
            <a:off x="6504432" y="3401568"/>
            <a:ext cx="203301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9BC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silhouette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8884920" y="2423160"/>
            <a:ext cx="2179320" cy="1508760"/>
          </a:xfrm>
          <a:prstGeom prst="roundRect">
            <a:avLst>
              <a:gd name="adj" fmla="val 3636"/>
            </a:avLst>
          </a:prstGeom>
          <a:solidFill>
            <a:srgbClr val="0D1B2A"/>
          </a:solidFill>
          <a:ln/>
        </p:spPr>
      </p:sp>
      <p:sp>
        <p:nvSpPr>
          <p:cNvPr id="15" name="Text 12"/>
          <p:cNvSpPr/>
          <p:nvPr/>
        </p:nvSpPr>
        <p:spPr>
          <a:xfrm>
            <a:off x="8958072" y="2651760"/>
            <a:ext cx="2033016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E0FBF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2600" dirty="0"/>
          </a:p>
        </p:txBody>
      </p:sp>
      <p:sp>
        <p:nvSpPr>
          <p:cNvPr id="16" name="Text 13"/>
          <p:cNvSpPr/>
          <p:nvPr/>
        </p:nvSpPr>
        <p:spPr>
          <a:xfrm>
            <a:off x="8958072" y="3401568"/>
            <a:ext cx="203301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9BC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clusters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3977640" y="4251960"/>
            <a:ext cx="7086600" cy="164592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E1E5E8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4297680" y="4434840"/>
            <a:ext cx="64465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500" b="1" dirty="0">
                <a:solidFill>
                  <a:srgbClr val="EE6C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Macusani</a:t>
            </a:r>
            <a:pPr indent="0" marL="0">
              <a:lnSpc>
                <a:spcPts val="2600"/>
              </a:lnSpc>
              <a:buNone/>
            </a:pPr>
            <a:r>
              <a:rPr lang="en-US" sz="1500" dirty="0">
                <a:solidFill>
                  <a:srgbClr val="1A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(4 315 m) queda en riesgo alto,
</a:t>
            </a:r>
            <a:pPr indent="0" marL="0">
              <a:lnSpc>
                <a:spcPts val="2600"/>
              </a:lnSpc>
              <a:buNone/>
            </a:pPr>
            <a:r>
              <a:rPr lang="en-US" sz="1500" b="1" dirty="0">
                <a:solidFill>
                  <a:srgbClr val="1F6F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Sandia</a:t>
            </a:r>
            <a:pPr indent="0" marL="0">
              <a:lnSpc>
                <a:spcPts val="2600"/>
              </a:lnSpc>
              <a:buNone/>
            </a:pPr>
            <a:r>
              <a:rPr lang="en-US" sz="1500" dirty="0">
                <a:solidFill>
                  <a:srgbClr val="1A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(2 170 m, en valle) en riesgo bajo.
</a:t>
            </a:r>
            <a:pPr indent="0" marL="0">
              <a:lnSpc>
                <a:spcPts val="2600"/>
              </a:lnSpc>
              <a:buNone/>
            </a:pPr>
            <a:r>
              <a:rPr lang="en-US" sz="1500" dirty="0">
                <a:solidFill>
                  <a:srgbClr val="1A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Coincide con la geografia, y no lo programamos.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9F9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928" cy="6858000"/>
          </a:xfrm>
          <a:prstGeom prst="rect">
            <a:avLst/>
          </a:prstGeom>
          <a:solidFill>
            <a:srgbClr val="0D1B2A"/>
          </a:solidFill>
          <a:ln/>
        </p:spPr>
      </p:sp>
      <p:sp>
        <p:nvSpPr>
          <p:cNvPr id="3" name="Text 1"/>
          <p:cNvSpPr/>
          <p:nvPr/>
        </p:nvSpPr>
        <p:spPr>
          <a:xfrm rot="16200000">
            <a:off x="-658368" y="3108960"/>
            <a:ext cx="1920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E0FB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ENTRENAMIENTO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1143000" y="457200"/>
            <a:ext cx="9921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D1B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Hiperparametros optimizados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143000" y="1170432"/>
            <a:ext cx="9921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3D5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Grid search de 24 combinaciones, maximizando silhouette.</a:t>
            </a:r>
            <a:endParaRPr lang="en-US" sz="16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143000" y="1737360"/>
          <a:ext cx="6537960" cy="2103120"/>
        </p:xfrm>
        <a:graphic>
          <a:graphicData uri="http://schemas.openxmlformats.org/drawingml/2006/table">
            <a:tbl>
              <a:tblPr/>
              <a:tblGrid>
                <a:gridCol w="2148840"/>
                <a:gridCol w="3017520"/>
                <a:gridCol w="1371600"/>
              </a:tblGrid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Hiperparametro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Valores explorados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Elegido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2A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n_clusters (k)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3, 4, 5, 6, 7, 8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init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k-means++, random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random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n_init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10, 25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escalado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StandardScaler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7955280" y="1737360"/>
            <a:ext cx="3108960" cy="960120"/>
          </a:xfrm>
          <a:prstGeom prst="roundRect">
            <a:avLst>
              <a:gd name="adj" fmla="val 5714"/>
            </a:avLst>
          </a:prstGeom>
          <a:solidFill>
            <a:srgbClr val="0D1B2A"/>
          </a:solidFill>
          <a:ln/>
        </p:spPr>
      </p:sp>
      <p:sp>
        <p:nvSpPr>
          <p:cNvPr id="8" name="Text 5"/>
          <p:cNvSpPr/>
          <p:nvPr/>
        </p:nvSpPr>
        <p:spPr>
          <a:xfrm>
            <a:off x="8092440" y="1847088"/>
            <a:ext cx="12344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E0FBF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0.419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9326880" y="1874520"/>
            <a:ext cx="1600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Silhouette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9326880" y="2194560"/>
            <a:ext cx="1645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9BC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cohesion y separacion (mas alto, mejor)</a:t>
            </a:r>
            <a:endParaRPr lang="en-US" sz="900" dirty="0"/>
          </a:p>
        </p:txBody>
      </p:sp>
      <p:sp>
        <p:nvSpPr>
          <p:cNvPr id="11" name="Shape 8"/>
          <p:cNvSpPr/>
          <p:nvPr/>
        </p:nvSpPr>
        <p:spPr>
          <a:xfrm>
            <a:off x="7955280" y="2834640"/>
            <a:ext cx="3108960" cy="960120"/>
          </a:xfrm>
          <a:prstGeom prst="roundRect">
            <a:avLst>
              <a:gd name="adj" fmla="val 5714"/>
            </a:avLst>
          </a:prstGeom>
          <a:solidFill>
            <a:srgbClr val="0D1B2A"/>
          </a:solidFill>
          <a:ln/>
        </p:spPr>
      </p:sp>
      <p:sp>
        <p:nvSpPr>
          <p:cNvPr id="12" name="Text 9"/>
          <p:cNvSpPr/>
          <p:nvPr/>
        </p:nvSpPr>
        <p:spPr>
          <a:xfrm>
            <a:off x="8092440" y="2944368"/>
            <a:ext cx="12344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E0FBF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0.813</a:t>
            </a:r>
            <a:endParaRPr lang="en-US" sz="2400" dirty="0"/>
          </a:p>
        </p:txBody>
      </p:sp>
      <p:sp>
        <p:nvSpPr>
          <p:cNvPr id="13" name="Text 10"/>
          <p:cNvSpPr/>
          <p:nvPr/>
        </p:nvSpPr>
        <p:spPr>
          <a:xfrm>
            <a:off x="9326880" y="2971800"/>
            <a:ext cx="1600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Davies-Bouldin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9326880" y="3291840"/>
            <a:ext cx="1645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9BC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dispersion entre grupos (mas bajo, mejor)</a:t>
            </a:r>
            <a:endParaRPr lang="en-US" sz="900" dirty="0"/>
          </a:p>
        </p:txBody>
      </p:sp>
      <p:sp>
        <p:nvSpPr>
          <p:cNvPr id="15" name="Shape 12"/>
          <p:cNvSpPr/>
          <p:nvPr/>
        </p:nvSpPr>
        <p:spPr>
          <a:xfrm>
            <a:off x="1143000" y="4114800"/>
            <a:ext cx="9921240" cy="1600200"/>
          </a:xfrm>
          <a:prstGeom prst="roundRect">
            <a:avLst>
              <a:gd name="adj" fmla="val 3429"/>
            </a:avLst>
          </a:prstGeom>
          <a:solidFill>
            <a:srgbClr val="EDF3F5"/>
          </a:solidFill>
          <a:ln/>
        </p:spPr>
      </p:sp>
      <p:sp>
        <p:nvSpPr>
          <p:cNvPr id="16" name="Text 13"/>
          <p:cNvSpPr/>
          <p:nvPr/>
        </p:nvSpPr>
        <p:spPr>
          <a:xfrm>
            <a:off x="1508760" y="4297680"/>
            <a:ext cx="918972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5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que no accuracy ni F1:  </a:t>
            </a:r>
            <a:pPr indent="0" marL="0">
              <a:lnSpc>
                <a:spcPts val="2600"/>
              </a:lnSpc>
              <a:buNone/>
            </a:pPr>
            <a:r>
              <a:rPr lang="en-US" sz="1500" dirty="0">
                <a:solidFill>
                  <a:srgbClr val="1A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existe una verdad de terreno de "aqui hubo helada" para estos distritos. Al ser no supervisado, se mide la calidad de la estructura descubierta, no el acierto contra una etiqueta.</a:t>
            </a:r>
            <a:endParaRPr lang="en-US" sz="1500" dirty="0"/>
          </a:p>
        </p:txBody>
      </p:sp>
      <p:sp>
        <p:nvSpPr>
          <p:cNvPr id="17" name="Text 14"/>
          <p:cNvSpPr/>
          <p:nvPr/>
        </p:nvSpPr>
        <p:spPr>
          <a:xfrm>
            <a:off x="1143000" y="5897880"/>
            <a:ext cx="9921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447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grid completo queda registrado en cluster_metadata.json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9F9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928" cy="6858000"/>
          </a:xfrm>
          <a:prstGeom prst="rect">
            <a:avLst/>
          </a:prstGeom>
          <a:solidFill>
            <a:srgbClr val="0D1B2A"/>
          </a:solidFill>
          <a:ln/>
        </p:spPr>
      </p:sp>
      <p:sp>
        <p:nvSpPr>
          <p:cNvPr id="3" name="Text 1"/>
          <p:cNvSpPr/>
          <p:nvPr/>
        </p:nvSpPr>
        <p:spPr>
          <a:xfrm rot="16200000">
            <a:off x="-658368" y="3108960"/>
            <a:ext cx="1920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E0FB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LIMITACIONES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1143000" y="457200"/>
            <a:ext cx="9921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D1B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Lo que el sistema todavia no hace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143000" y="1170432"/>
            <a:ext cx="9921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3D5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informe honesto vale mas que uno perfecto.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1143000" y="1920240"/>
            <a:ext cx="992124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1E5E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417320" y="2185416"/>
            <a:ext cx="566928" cy="566928"/>
          </a:xfrm>
          <a:prstGeom prst="ellipse">
            <a:avLst/>
          </a:prstGeom>
          <a:solidFill>
            <a:srgbClr val="EE6C4D"/>
          </a:solidFill>
          <a:ln/>
        </p:spPr>
      </p:sp>
      <p:sp>
        <p:nvSpPr>
          <p:cNvPr id="8" name="Text 6"/>
          <p:cNvSpPr/>
          <p:nvPr/>
        </p:nvSpPr>
        <p:spPr>
          <a:xfrm>
            <a:off x="1417320" y="2185416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2194560" y="2121408"/>
            <a:ext cx="85496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derivado del perfil termico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2194560" y="2542032"/>
            <a:ext cx="8549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447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existe un registro oficial de heladas observadas por distrito con el que validar.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1143000" y="3218688"/>
            <a:ext cx="992124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1E5E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17320" y="3483864"/>
            <a:ext cx="566928" cy="566928"/>
          </a:xfrm>
          <a:prstGeom prst="ellipse">
            <a:avLst/>
          </a:prstGeom>
          <a:solidFill>
            <a:srgbClr val="EE6C4D"/>
          </a:solidFill>
          <a:ln/>
        </p:spPr>
      </p:sp>
      <p:sp>
        <p:nvSpPr>
          <p:cNvPr id="13" name="Text 11"/>
          <p:cNvSpPr/>
          <p:nvPr/>
        </p:nvSpPr>
        <p:spPr>
          <a:xfrm>
            <a:off x="1417320" y="3483864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2194560" y="3419856"/>
            <a:ext cx="85496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SENAMHI sin API publica estable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2194560" y="3840480"/>
            <a:ext cx="8549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447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fuente oficial prioritaria, pero Open-Meteo es la fuente operativa real.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1143000" y="4517136"/>
            <a:ext cx="992124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1E5E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17320" y="4782312"/>
            <a:ext cx="566928" cy="566928"/>
          </a:xfrm>
          <a:prstGeom prst="ellipse">
            <a:avLst/>
          </a:prstGeom>
          <a:solidFill>
            <a:srgbClr val="EE6C4D"/>
          </a:solidFill>
          <a:ln/>
        </p:spPr>
      </p:sp>
      <p:sp>
        <p:nvSpPr>
          <p:cNvPr id="18" name="Text 16"/>
          <p:cNvSpPr/>
          <p:nvPr/>
        </p:nvSpPr>
        <p:spPr>
          <a:xfrm>
            <a:off x="1417320" y="4782312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2194560" y="4718304"/>
            <a:ext cx="85496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Umbrales de chuño y ganado del MVP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2194560" y="5138928"/>
            <a:ext cx="8549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447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Documentados con fuentes, pero no son cifras oficiales.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1143000" y="5897880"/>
            <a:ext cx="9921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6F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Ninguna invalida la arquitectura ni el ciclo de vida que mostramos.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548640"/>
            <a:ext cx="6766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Lo que entregamos</a:t>
            </a:r>
            <a:endParaRPr lang="en-US" sz="3800" dirty="0"/>
          </a:p>
        </p:txBody>
      </p:sp>
      <p:sp>
        <p:nvSpPr>
          <p:cNvPr id="3" name="Shape 1"/>
          <p:cNvSpPr/>
          <p:nvPr/>
        </p:nvSpPr>
        <p:spPr>
          <a:xfrm>
            <a:off x="914400" y="1600200"/>
            <a:ext cx="566928" cy="566928"/>
          </a:xfrm>
          <a:prstGeom prst="roundRect">
            <a:avLst>
              <a:gd name="adj" fmla="val 19355"/>
            </a:avLst>
          </a:prstGeom>
          <a:solidFill>
            <a:srgbClr val="1F6F78"/>
          </a:solidFill>
          <a:ln/>
        </p:spPr>
      </p:sp>
      <p:sp>
        <p:nvSpPr>
          <p:cNvPr id="4" name="Text 2"/>
          <p:cNvSpPr/>
          <p:nvPr/>
        </p:nvSpPr>
        <p:spPr>
          <a:xfrm>
            <a:off x="914400" y="1600200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737360" y="1554480"/>
            <a:ext cx="49377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0FB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Aprendizaje no supervisado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1737360" y="1984248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9BC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K-Means con hiperparametros optimizados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914400" y="2834640"/>
            <a:ext cx="566928" cy="566928"/>
          </a:xfrm>
          <a:prstGeom prst="roundRect">
            <a:avLst>
              <a:gd name="adj" fmla="val 19355"/>
            </a:avLst>
          </a:prstGeom>
          <a:solidFill>
            <a:srgbClr val="1F6F78"/>
          </a:solidFill>
          <a:ln/>
        </p:spPr>
      </p:sp>
      <p:sp>
        <p:nvSpPr>
          <p:cNvPr id="8" name="Text 6"/>
          <p:cNvSpPr/>
          <p:nvPr/>
        </p:nvSpPr>
        <p:spPr>
          <a:xfrm>
            <a:off x="914400" y="2834640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737360" y="2788920"/>
            <a:ext cx="49377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0FB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Desplegado en produccion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1737360" y="3218688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9BC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Web, Android y API en la nube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914400" y="4069080"/>
            <a:ext cx="566928" cy="566928"/>
          </a:xfrm>
          <a:prstGeom prst="roundRect">
            <a:avLst>
              <a:gd name="adj" fmla="val 19355"/>
            </a:avLst>
          </a:prstGeom>
          <a:solidFill>
            <a:srgbClr val="1F6F78"/>
          </a:solidFill>
          <a:ln/>
        </p:spPr>
      </p:sp>
      <p:sp>
        <p:nvSpPr>
          <p:cNvPr id="12" name="Text 10"/>
          <p:cNvSpPr/>
          <p:nvPr/>
        </p:nvSpPr>
        <p:spPr>
          <a:xfrm>
            <a:off x="914400" y="4069080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737360" y="4023360"/>
            <a:ext cx="49377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0FB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Mantenimiento automatizado</a:t>
            </a:r>
            <a:endParaRPr lang="en-US" sz="1900" dirty="0"/>
          </a:p>
        </p:txBody>
      </p:sp>
      <p:sp>
        <p:nvSpPr>
          <p:cNvPr id="14" name="Text 12"/>
          <p:cNvSpPr/>
          <p:nvPr/>
        </p:nvSpPr>
        <p:spPr>
          <a:xfrm>
            <a:off x="1737360" y="4453128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9BC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reentrena solo y el quality gate lo protege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720840" y="1600200"/>
            <a:ext cx="4617720" cy="196596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/>
        </p:spPr>
      </p:sp>
      <p:pic>
        <p:nvPicPr>
          <p:cNvPr id="16" name="Image 0" descr="D:\Dev\02_UNIVERSIDAD\FrostPuno\.claude\worktrees\flutter-frost-prediction-puno-d1a1d7\docs\presentacion\img\actions_detal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0" y="1737360"/>
            <a:ext cx="4343400" cy="1691640"/>
          </a:xfrm>
          <a:prstGeom prst="rect">
            <a:avLst/>
          </a:prstGeom>
        </p:spPr>
      </p:pic>
      <p:sp>
        <p:nvSpPr>
          <p:cNvPr id="17" name="Text 14"/>
          <p:cNvSpPr/>
          <p:nvPr/>
        </p:nvSpPr>
        <p:spPr>
          <a:xfrm>
            <a:off x="6720840" y="3657600"/>
            <a:ext cx="4617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A9BC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workflows de integracion continua, en verde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6720840" y="4160520"/>
            <a:ext cx="1463040" cy="960120"/>
          </a:xfrm>
          <a:prstGeom prst="roundRect">
            <a:avLst>
              <a:gd name="adj" fmla="val 5714"/>
            </a:avLst>
          </a:prstGeom>
          <a:solidFill>
            <a:srgbClr val="16232E"/>
          </a:solidFill>
          <a:ln/>
        </p:spPr>
      </p:sp>
      <p:sp>
        <p:nvSpPr>
          <p:cNvPr id="19" name="Text 16"/>
          <p:cNvSpPr/>
          <p:nvPr/>
        </p:nvSpPr>
        <p:spPr>
          <a:xfrm>
            <a:off x="6775704" y="4279392"/>
            <a:ext cx="135331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0FBF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12 + 6</a:t>
            </a:r>
            <a:endParaRPr lang="en-US" sz="1800" dirty="0"/>
          </a:p>
        </p:txBody>
      </p:sp>
      <p:sp>
        <p:nvSpPr>
          <p:cNvPr id="20" name="Text 17"/>
          <p:cNvSpPr/>
          <p:nvPr/>
        </p:nvSpPr>
        <p:spPr>
          <a:xfrm>
            <a:off x="6775704" y="4690872"/>
            <a:ext cx="135331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9BC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pruebas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8293608" y="4160520"/>
            <a:ext cx="1463040" cy="960120"/>
          </a:xfrm>
          <a:prstGeom prst="roundRect">
            <a:avLst>
              <a:gd name="adj" fmla="val 5714"/>
            </a:avLst>
          </a:prstGeom>
          <a:solidFill>
            <a:srgbClr val="16232E"/>
          </a:solidFill>
          <a:ln/>
        </p:spPr>
      </p:sp>
      <p:sp>
        <p:nvSpPr>
          <p:cNvPr id="22" name="Text 19"/>
          <p:cNvSpPr/>
          <p:nvPr/>
        </p:nvSpPr>
        <p:spPr>
          <a:xfrm>
            <a:off x="8348472" y="4279392"/>
            <a:ext cx="135331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0FBF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0.419</a:t>
            </a:r>
            <a:endParaRPr lang="en-US" sz="1800" dirty="0"/>
          </a:p>
        </p:txBody>
      </p:sp>
      <p:sp>
        <p:nvSpPr>
          <p:cNvPr id="23" name="Text 20"/>
          <p:cNvSpPr/>
          <p:nvPr/>
        </p:nvSpPr>
        <p:spPr>
          <a:xfrm>
            <a:off x="8348472" y="4690872"/>
            <a:ext cx="135331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9BC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silhouette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9866376" y="4160520"/>
            <a:ext cx="1463040" cy="960120"/>
          </a:xfrm>
          <a:prstGeom prst="roundRect">
            <a:avLst>
              <a:gd name="adj" fmla="val 5714"/>
            </a:avLst>
          </a:prstGeom>
          <a:solidFill>
            <a:srgbClr val="16232E"/>
          </a:solidFill>
          <a:ln/>
        </p:spPr>
      </p:sp>
      <p:sp>
        <p:nvSpPr>
          <p:cNvPr id="25" name="Text 22"/>
          <p:cNvSpPr/>
          <p:nvPr/>
        </p:nvSpPr>
        <p:spPr>
          <a:xfrm>
            <a:off x="9921240" y="4279392"/>
            <a:ext cx="135331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0FBF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1800" dirty="0"/>
          </a:p>
        </p:txBody>
      </p:sp>
      <p:sp>
        <p:nvSpPr>
          <p:cNvPr id="26" name="Text 23"/>
          <p:cNvSpPr/>
          <p:nvPr/>
        </p:nvSpPr>
        <p:spPr>
          <a:xfrm>
            <a:off x="9921240" y="4690872"/>
            <a:ext cx="135331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9BC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workflows</a:t>
            </a:r>
            <a:endParaRPr lang="en-US" sz="1100" dirty="0"/>
          </a:p>
        </p:txBody>
      </p:sp>
      <p:sp>
        <p:nvSpPr>
          <p:cNvPr id="27" name="Shape 24"/>
          <p:cNvSpPr/>
          <p:nvPr/>
        </p:nvSpPr>
        <p:spPr>
          <a:xfrm>
            <a:off x="914400" y="5349240"/>
            <a:ext cx="1371600" cy="45720"/>
          </a:xfrm>
          <a:prstGeom prst="rect">
            <a:avLst/>
          </a:prstGeom>
          <a:solidFill>
            <a:srgbClr val="EE6C4D"/>
          </a:solidFill>
          <a:ln/>
        </p:spPr>
      </p:sp>
      <p:sp>
        <p:nvSpPr>
          <p:cNvPr id="28" name="Text 25"/>
          <p:cNvSpPr/>
          <p:nvPr/>
        </p:nvSpPr>
        <p:spPr>
          <a:xfrm>
            <a:off x="914400" y="5532120"/>
            <a:ext cx="3657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Gracias</a:t>
            </a:r>
            <a:endParaRPr lang="en-US" sz="2800" dirty="0"/>
          </a:p>
        </p:txBody>
      </p:sp>
      <p:sp>
        <p:nvSpPr>
          <p:cNvPr id="29" name="Text 26"/>
          <p:cNvSpPr/>
          <p:nvPr/>
        </p:nvSpPr>
        <p:spPr>
          <a:xfrm>
            <a:off x="4572000" y="5623560"/>
            <a:ext cx="6720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9BCC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frost-puno.vercel.app   ·   github.com/JosephElvisMaman1/frost-puno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FrostPuno - Apertura y cierre</dc:title>
  <dc:subject>PptxGenJS Presentation</dc:subject>
  <dc:creator>Joseph Elvis Mamani Mendoza</dc:creator>
  <cp:lastModifiedBy>Joseph Elvis Mamani Mendoza</cp:lastModifiedBy>
  <cp:revision>1</cp:revision>
  <dcterms:created xsi:type="dcterms:W3CDTF">2026-07-31T16:38:25Z</dcterms:created>
  <dcterms:modified xsi:type="dcterms:W3CDTF">2026-07-31T16:38:25Z</dcterms:modified>
</cp:coreProperties>
</file>